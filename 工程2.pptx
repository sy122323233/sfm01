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7" r:id="rId5"/>
    <p:sldId id="268" r:id="rId6"/>
    <p:sldId id="269" r:id="rId7"/>
    <p:sldId id="260" r:id="rId8"/>
    <p:sldId id="270" r:id="rId9"/>
    <p:sldId id="271" r:id="rId10"/>
    <p:sldId id="259" r:id="rId11"/>
    <p:sldId id="261" r:id="rId12"/>
    <p:sldId id="272" r:id="rId13"/>
    <p:sldId id="262" r:id="rId14"/>
    <p:sldId id="274" r:id="rId15"/>
    <p:sldId id="263" r:id="rId16"/>
    <p:sldId id="264" r:id="rId17"/>
    <p:sldId id="273" r:id="rId18"/>
    <p:sldId id="265" r:id="rId19"/>
    <p:sldId id="266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2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483A40-84CB-4B99-8B2E-A584231787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1497C30-B3C0-40D3-9A66-1AF21E8A62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70DA39-8C5F-4DBA-821C-772031488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EA120-49C3-4755-A44C-8A6B6B14FBF2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2AA2AD-C207-43C3-B086-09EA54449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79750B-748E-4D5B-B06E-8993C03DA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6F887-A4C5-4A22-A527-30A27EE2D4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8284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34BE47-1642-4915-8814-C4872EEE9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D34156-D55F-46CA-A1A3-E897A3E55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72E5E2-F302-405C-AED0-B6B2FDBCB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EA120-49C3-4755-A44C-8A6B6B14FBF2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4F8E14-53A6-4ADE-A18B-AB0C87D0B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3DCCD2-4791-4908-9A2F-EAADF89E7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6F887-A4C5-4A22-A527-30A27EE2D4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6343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8FE570-E77D-4B49-8132-097C618D5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B48F19-684C-4AA2-B14E-34FF34858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18A3C6-F8E6-454E-9917-0B3A9330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EA120-49C3-4755-A44C-8A6B6B14FBF2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211FFB-C5EC-4FA4-B42C-F8403C393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3B1172-CC4D-4BCA-9328-F29412FF0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6F887-A4C5-4A22-A527-30A27EE2D4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141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D491EE-A9D1-4E3B-B821-135AE8D29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F58C40-EFE0-4334-95AE-079BBD72FA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51197F5-7EB2-41EC-9AEB-A695CD1EDD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21D250-0836-4478-9697-A609BA7FE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EA120-49C3-4755-A44C-8A6B6B14FBF2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086CDF-2229-430B-BC8D-72B030682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0D851A-B03C-4F9C-B29E-9F3582D46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6F887-A4C5-4A22-A527-30A27EE2D4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59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71045B-154A-45B0-B7EC-C069F99F1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97A504-1DB4-4C84-A9C3-C1A4A417F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04FD2AA-6C63-4681-B05F-B158312CD5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A217419-F65F-416C-A1CD-48BE018F71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5EC947A-B6C8-4DC8-AFC2-2E34512C92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0A466E6-D6CD-44A7-AF46-C8C15E7C4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EA120-49C3-4755-A44C-8A6B6B14FBF2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7221200-62AC-46FA-87EB-EBC06755D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A890ABE-86BA-490B-80C3-F21C6AEBA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6F887-A4C5-4A22-A527-30A27EE2D4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208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36DAA9-215F-4538-A4E8-AC0639DF9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F3FC446-7FE2-4272-ADDE-A18A0D5E0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EA120-49C3-4755-A44C-8A6B6B14FBF2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929DBD5-3F55-4376-B6FB-1FFD983FB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538ECEF-2F7E-4E27-A046-8B9B9623B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6F887-A4C5-4A22-A527-30A27EE2D4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5042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F5F1E0C-12CB-4042-A50E-7B2DE758E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EA120-49C3-4755-A44C-8A6B6B14FBF2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3880B0B-92E7-4CD7-B346-904E2B840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CFDF26-887E-4F26-91A0-75919151F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6F887-A4C5-4A22-A527-30A27EE2D4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68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6E1FF5-81A6-4298-AB2F-D2D42F549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E13C70-3291-44B1-9093-F109435B4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4081BA-FFD2-4F7B-BE1F-021412B9D2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CD3724-1A26-452D-A1C7-CC7869588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EA120-49C3-4755-A44C-8A6B6B14FBF2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D2A16E-FF34-4D01-88DC-7F5E921E1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A6E275-7B38-4A48-A36C-5742D5B76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6F887-A4C5-4A22-A527-30A27EE2D4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1369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EBC9AA-B0A5-4FA8-97A8-2CCDEBC66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B1E4F36-87EC-4A4A-9D87-01E071AC67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449C648-01E1-468F-9F79-4E161C2AC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054E5-6B59-4A4C-A2A8-65594DC67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EA120-49C3-4755-A44C-8A6B6B14FBF2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A82749-E038-42DC-BEC0-42F97AF49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2DC847-4775-46D5-8C4F-03F457E9B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6F887-A4C5-4A22-A527-30A27EE2D4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7439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C5FB92-F8F7-4D93-80F4-3FEC416AF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8B29BD7-1687-41ED-B7B2-28BA11DC83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9225B6-9B48-4B02-94E9-3C0B2B4D5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EA120-49C3-4755-A44C-8A6B6B14FBF2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0ED9A1-DF3E-4756-8B27-2076E86EB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477AA6-D0CC-4E69-BEB9-18F012E60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6F887-A4C5-4A22-A527-30A27EE2D4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587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A5B2C01-5487-4514-B3D7-FE04DBBFAD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12F688-87DF-47AB-8F1D-ED183B486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52B07B-4F0C-4C5E-9381-135CA6F19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EA120-49C3-4755-A44C-8A6B6B14FBF2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65D187-CB92-49FE-A80D-E370A8744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3F5B8E-9789-4309-B601-0616A6FB2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6F887-A4C5-4A22-A527-30A27EE2D4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9041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24855E2-885A-4567-9CD4-3B75068B7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9E6647-4610-4566-AA41-EDF5B70CE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2E1023-7BC6-4137-8920-91E4DDA37F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3EA120-49C3-4755-A44C-8A6B6B14FBF2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3A4EF0-1808-4504-A574-9DA8B80EE6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510FAF-E2A2-4D78-939F-F903630F85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46F887-A4C5-4A22-A527-30A27EE2D4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489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5BC153-DAD4-459F-BB20-FB25C4B777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三维图像重建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A7B6173-1DEC-49E2-AF9E-4CCED7DE39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6754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A709DA-2015-48E9-8F78-4C9806177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E93BA6-7C8C-4C27-9B03-E65CC28BE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zh-CN" altLang="zh-CN" sz="18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传统三维模型获取方式主要包括：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18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人工三维建模；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18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激光扫描；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18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深度摄像设备采集；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18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专业摄影测量。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1955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A709DA-2015-48E9-8F78-4C9806177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sz="3200" b="1" kern="1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软件工程视角下的问题</a:t>
            </a:r>
            <a:endParaRPr lang="zh-CN" altLang="en-US" sz="32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E93BA6-7C8C-4C27-9B03-E65CC28BE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b="1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算法复杂度管理问题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zh-CN" sz="20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图片预处理；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zh-CN" sz="20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特征检测；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zh-CN" sz="20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征匹配；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zh-CN" sz="20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姿态计算；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zh-CN" sz="20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点云恢复；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zh-CN" sz="20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模型生成；</a:t>
            </a:r>
            <a:endParaRPr lang="en-US" altLang="zh-CN" sz="2000" kern="0" dirty="0">
              <a:effectLst/>
              <a:latin typeface="等线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zh-CN" altLang="zh-CN" sz="20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纹理映射。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8399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A709DA-2015-48E9-8F78-4C9806177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sz="3200" b="1" kern="1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软件工程视角下的问题</a:t>
            </a:r>
            <a:endParaRPr lang="zh-CN" altLang="en-US" sz="32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E93BA6-7C8C-4C27-9B03-E65CC28BE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zh-CN" sz="3200" b="1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大规模数据管理问题</a:t>
            </a:r>
            <a:endParaRPr lang="zh-CN" altLang="zh-CN" sz="3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文件存储；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数据索引；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数据传输；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缓存管理；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zh-CN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数据备份。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/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427589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A709DA-2015-48E9-8F78-4C9806177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sz="3200" b="1" kern="1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软件工程视角下的问题</a:t>
            </a:r>
            <a:endParaRPr lang="zh-CN" altLang="en-US" sz="32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E93BA6-7C8C-4C27-9B03-E65CC28BE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zh-CN" sz="4800" b="1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计算资源管理问题</a:t>
            </a:r>
            <a:endParaRPr lang="en-US" altLang="zh-CN" sz="4800" b="1" kern="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en-US" altLang="zh-CN" sz="4000" b="1" kern="0" dirty="0"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CPU</a:t>
            </a:r>
            <a:r>
              <a:rPr lang="zh-CN" altLang="zh-CN" sz="4000" b="1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任务：</a:t>
            </a:r>
            <a:endParaRPr lang="zh-CN" altLang="zh-CN" sz="4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4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图片解析；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400" kern="0" dirty="0">
                <a:latin typeface="等线" panose="02010600030101010101" pitchFamily="2" charset="-122"/>
                <a:ea typeface="宋体" panose="02010600030101010101" pitchFamily="2" charset="-122"/>
              </a:rPr>
              <a:t>特征计算；</a:t>
            </a: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400" kern="0" dirty="0">
                <a:latin typeface="等线" panose="02010600030101010101" pitchFamily="2" charset="-122"/>
                <a:ea typeface="宋体" panose="02010600030101010101" pitchFamily="2" charset="-122"/>
              </a:rPr>
              <a:t>几何优化</a:t>
            </a:r>
            <a:endParaRPr lang="en-US" altLang="zh-CN" sz="2400" kern="0" dirty="0">
              <a:latin typeface="等线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en-US" altLang="zh-CN" sz="4000" b="1" kern="0" dirty="0"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GPU</a:t>
            </a:r>
            <a:r>
              <a:rPr lang="zh-CN" altLang="zh-CN" sz="4000" b="1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任务：</a:t>
            </a:r>
            <a:endParaRPr lang="zh-CN" altLang="zh-CN" sz="4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1257300" lvl="2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4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深度估计；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1714500" lvl="3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200" kern="0" dirty="0">
                <a:latin typeface="等线" panose="02010600030101010101" pitchFamily="2" charset="-122"/>
                <a:ea typeface="宋体" panose="02010600030101010101" pitchFamily="2" charset="-122"/>
              </a:rPr>
              <a:t>神经网络推理；</a:t>
            </a:r>
          </a:p>
          <a:p>
            <a:pPr marL="1714500" lvl="3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200" kern="0" dirty="0">
                <a:latin typeface="等线" panose="02010600030101010101" pitchFamily="2" charset="-122"/>
                <a:ea typeface="宋体" panose="02010600030101010101" pitchFamily="2" charset="-122"/>
              </a:rPr>
              <a:t>大规模矩阵计算</a:t>
            </a:r>
            <a:endParaRPr lang="zh-CN" altLang="en-US" sz="2200" kern="0" dirty="0">
              <a:latin typeface="等线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5000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A709DA-2015-48E9-8F78-4C9806177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sz="4000" b="1" kern="1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软件工程视角下的问题</a:t>
            </a:r>
            <a:endParaRPr lang="zh-CN" altLang="en-US" sz="40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E93BA6-7C8C-4C27-9B03-E65CC28BE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zh-CN" sz="3600" b="1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用户体验问题</a:t>
            </a:r>
            <a:endParaRPr lang="zh-CN" altLang="zh-CN" sz="3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CN" sz="2800" kern="0" dirty="0" err="1"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SfM</a:t>
            </a:r>
            <a:r>
              <a:rPr lang="zh-CN" altLang="zh-CN" sz="28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CN" sz="2800" kern="0" dirty="0"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MVS</a:t>
            </a:r>
            <a:r>
              <a:rPr lang="zh-CN" altLang="zh-CN" sz="28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CN" sz="2800" kern="0" dirty="0"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Bundle Adjustment</a:t>
            </a:r>
            <a:r>
              <a:rPr lang="zh-CN" altLang="zh-CN" sz="28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8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点云优化。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zh-CN" altLang="zh-CN" sz="36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用户希望的是：</a:t>
            </a:r>
            <a:endParaRPr lang="zh-CN" altLang="zh-CN" sz="3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zh-CN" sz="28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上传图片</a:t>
            </a:r>
            <a:r>
              <a:rPr lang="en-US" altLang="zh-CN" sz="28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→ </a:t>
            </a:r>
            <a:r>
              <a:rPr lang="zh-CN" altLang="zh-CN" sz="28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点击生成</a:t>
            </a:r>
            <a:r>
              <a:rPr lang="en-US" altLang="zh-CN" sz="28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→ </a:t>
            </a:r>
            <a:r>
              <a:rPr lang="zh-CN" altLang="zh-CN" sz="28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查看模型。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757009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A709DA-2015-48E9-8F78-4C9806177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需求分析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E93BA6-7C8C-4C27-9B03-E65CC28BE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zh-CN" sz="3200" b="1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功能目标</a:t>
            </a:r>
            <a:endParaRPr lang="zh-CN" altLang="zh-CN" sz="3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kern="0" dirty="0">
                <a:latin typeface="等线" panose="02010600030101010101" pitchFamily="2" charset="-122"/>
                <a:ea typeface="宋体" panose="02010600030101010101" pitchFamily="2" charset="-122"/>
              </a:rPr>
              <a:t>用户注册登录；</a:t>
            </a: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图片上传；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图片质量检测；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自动重建；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重建状态监控；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三维模型显示；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模型下载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750408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A709DA-2015-48E9-8F78-4C9806177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需求分析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E93BA6-7C8C-4C27-9B03-E65CC28BE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zh-CN" sz="3600" b="1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性能目标</a:t>
            </a:r>
            <a:endParaRPr lang="zh-CN" altLang="zh-CN" sz="3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24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支持大批量图片输入；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24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支持</a:t>
            </a:r>
            <a:r>
              <a:rPr lang="en-US" altLang="zh-CN" sz="24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GPU</a:t>
            </a:r>
            <a:r>
              <a:rPr lang="zh-CN" altLang="zh-CN" sz="24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计算；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24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支持任务并行；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24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支持失败恢复；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513153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A709DA-2015-48E9-8F78-4C9806177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需求分析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E93BA6-7C8C-4C27-9B03-E65CC28BE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zh-CN" sz="3200" b="1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可靠性目标</a:t>
            </a:r>
            <a:endParaRPr lang="zh-CN" altLang="zh-CN" sz="3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数据不丢失；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任务可恢复；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服务稳定运行；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800100" lvl="1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异常自动处理。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657697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A709DA-2015-48E9-8F78-4C9806177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sz="4400" b="1" kern="18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系统总体架构设计</a:t>
            </a:r>
            <a:br>
              <a:rPr lang="zh-CN" altLang="zh-CN" sz="4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E93BA6-7C8C-4C27-9B03-E65CC28BE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b="1" kern="1800" dirty="0">
                <a:ea typeface="宋体" panose="02010600030101010101" pitchFamily="2" charset="-122"/>
              </a:rPr>
              <a:t>3.1 </a:t>
            </a:r>
            <a:r>
              <a:rPr lang="zh-CN" altLang="zh-CN" sz="3200" b="1" kern="1800" dirty="0">
                <a:ea typeface="宋体" panose="02010600030101010101" pitchFamily="2" charset="-122"/>
              </a:rPr>
              <a:t>架构设计原则</a:t>
            </a:r>
          </a:p>
          <a:p>
            <a:r>
              <a:rPr lang="en-US" altLang="zh-CN" sz="3200" b="1" kern="1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3.2 </a:t>
            </a:r>
            <a:r>
              <a:rPr lang="zh-CN" altLang="zh-CN" sz="3200" b="1" kern="1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系统总体架构</a:t>
            </a:r>
            <a:endParaRPr lang="en-US" altLang="zh-CN" sz="3200" b="1" kern="18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zh-CN" altLang="zh-CN" sz="2800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系统采用分层架构</a:t>
            </a:r>
            <a:endParaRPr lang="en-US" altLang="zh-CN" sz="2800" kern="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zh-CN" altLang="zh-CN" sz="2800" b="1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用户交互层</a:t>
            </a:r>
            <a:endParaRPr lang="en-US" altLang="zh-CN" sz="2800" b="1" kern="0" dirty="0">
              <a:effectLst/>
              <a:latin typeface="等线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en-US" altLang="zh-CN" sz="2800" b="1" kern="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kern="0" dirty="0"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Three.js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zh-CN" sz="2800" b="1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服务业务层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sz="2800" b="1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</a:t>
            </a:r>
            <a:r>
              <a:rPr lang="zh-CN" altLang="zh-CN" sz="2800" b="1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业务层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/>
            <a:endParaRPr lang="zh-CN" altLang="zh-CN" sz="3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/>
            <a:endParaRPr lang="en-US" altLang="zh-CN" sz="3200" kern="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2770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A709DA-2015-48E9-8F78-4C9806177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sz="4400" b="1" kern="18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多图片三维重建核心算法的软件工程设计</a:t>
            </a:r>
            <a:br>
              <a:rPr lang="zh-CN" altLang="zh-CN" sz="4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E93BA6-7C8C-4C27-9B03-E65CC28BE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US" altLang="zh-CN" b="1" kern="0" dirty="0"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4.1 </a:t>
            </a:r>
            <a:r>
              <a:rPr lang="zh-CN" altLang="zh-CN" b="1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三维重建算法流程总体设计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zh-CN" altLang="zh-CN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完整流程如下：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>
              <a:buSzPts val="1000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zh-CN" altLang="zh-CN" sz="2000" kern="0" dirty="0">
                <a:latin typeface="等线" panose="02010600030101010101" pitchFamily="2" charset="-122"/>
                <a:ea typeface="宋体" panose="02010600030101010101" pitchFamily="2" charset="-122"/>
              </a:rPr>
              <a:t>用户身份认证；</a:t>
            </a:r>
          </a:p>
          <a:p>
            <a:pPr lvl="1">
              <a:buSzPts val="1000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zh-CN" altLang="zh-CN" sz="2000" kern="0" dirty="0">
                <a:latin typeface="等线" panose="02010600030101010101" pitchFamily="2" charset="-122"/>
                <a:ea typeface="宋体" panose="02010600030101010101" pitchFamily="2" charset="-122"/>
              </a:rPr>
              <a:t>权限控制；</a:t>
            </a:r>
            <a:endParaRPr lang="en-US" altLang="zh-CN" sz="2000" kern="0" dirty="0">
              <a:latin typeface="等线" panose="02010600030101010101" pitchFamily="2" charset="-122"/>
              <a:ea typeface="宋体" panose="02010600030101010101" pitchFamily="2" charset="-122"/>
            </a:endParaRPr>
          </a:p>
          <a:p>
            <a:pPr lvl="1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zh-CN" altLang="zh-CN" sz="2000" kern="0" dirty="0">
                <a:latin typeface="等线" panose="02010600030101010101" pitchFamily="2" charset="-122"/>
                <a:ea typeface="宋体" panose="02010600030101010101" pitchFamily="2" charset="-122"/>
              </a:rPr>
              <a:t>用户图片输入</a:t>
            </a:r>
            <a:r>
              <a:rPr lang="en-US" altLang="zh-CN" sz="2000" kern="0" dirty="0">
                <a:latin typeface="等线" panose="02010600030101010101" pitchFamily="2" charset="-122"/>
                <a:ea typeface="宋体" panose="02010600030101010101" pitchFamily="2" charset="-122"/>
              </a:rPr>
              <a:t>  </a:t>
            </a:r>
          </a:p>
          <a:p>
            <a:pPr lvl="1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zh-CN" altLang="zh-CN" sz="20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图片质量分析</a:t>
            </a:r>
            <a:r>
              <a:rPr lang="en-US" altLang="zh-CN" sz="2000" kern="0" dirty="0"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 kern="0" dirty="0"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，</a:t>
            </a:r>
            <a:endParaRPr lang="en-US" altLang="zh-CN" sz="2000" kern="0" dirty="0">
              <a:effectLst/>
              <a:latin typeface="宋体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  <a:p>
            <a:pPr lvl="1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altLang="zh-CN" sz="2000" kern="0" dirty="0"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zh-CN" sz="20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图像预处理</a:t>
            </a:r>
            <a:r>
              <a:rPr lang="en-US" altLang="zh-CN" sz="20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</a:p>
          <a:p>
            <a:pPr lvl="1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zh-CN" altLang="zh-CN" sz="20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特征提取</a:t>
            </a:r>
            <a:r>
              <a:rPr lang="zh-CN" altLang="en-US" sz="20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 </a:t>
            </a:r>
            <a:endParaRPr lang="en-US" altLang="zh-CN" sz="2000" kern="0" dirty="0">
              <a:effectLst/>
              <a:latin typeface="等线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zh-CN" altLang="zh-CN" sz="20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特征匹配</a:t>
            </a:r>
            <a:r>
              <a:rPr lang="en-US" altLang="zh-CN" sz="20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endParaRPr lang="en-US" altLang="zh-CN" sz="2000" kern="0" dirty="0">
              <a:effectLst/>
              <a:latin typeface="等线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zh-CN" altLang="zh-CN" sz="20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相机参数估计</a:t>
            </a:r>
            <a:r>
              <a:rPr lang="zh-CN" altLang="en-US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endParaRPr lang="en-US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zh-CN" altLang="zh-CN" sz="20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稀疏点云重建</a:t>
            </a:r>
            <a:r>
              <a:rPr lang="zh-CN" altLang="en-US" sz="20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endParaRPr lang="en-US" altLang="zh-CN" sz="2000" kern="0" dirty="0">
              <a:effectLst/>
              <a:latin typeface="等线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zh-CN" altLang="zh-CN" sz="20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密集点云生成</a:t>
            </a:r>
            <a:r>
              <a:rPr lang="zh-CN" altLang="en-US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endParaRPr lang="en-US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zh-CN" altLang="zh-CN" sz="20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表面网格重建</a:t>
            </a:r>
            <a:r>
              <a:rPr lang="zh-CN" altLang="en-US" sz="20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endParaRPr lang="en-US" altLang="zh-CN" sz="2000" kern="0" dirty="0">
              <a:effectLst/>
              <a:latin typeface="等线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zh-CN" altLang="zh-CN" sz="20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纹理映射</a:t>
            </a:r>
            <a:r>
              <a:rPr lang="zh-CN" altLang="en-US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endParaRPr lang="en-US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zh-CN" altLang="zh-CN" sz="20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模型优化</a:t>
            </a:r>
            <a:r>
              <a:rPr lang="zh-CN" altLang="en-US" sz="20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 </a:t>
            </a:r>
            <a:endParaRPr lang="en-US" altLang="zh-CN" sz="2000" kern="0" dirty="0">
              <a:effectLst/>
              <a:latin typeface="等线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zh-CN" altLang="zh-CN" sz="2000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三维模型输出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52810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A709DA-2015-48E9-8F78-4C9806177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sz="4400" b="1" kern="18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多图片三维重建核心算法的软件工程设计</a:t>
            </a:r>
            <a:br>
              <a:rPr lang="zh-CN" altLang="zh-CN" sz="4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E93BA6-7C8C-4C27-9B03-E65CC28BE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b="1" kern="1800" dirty="0"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4.2 </a:t>
            </a:r>
            <a:r>
              <a:rPr lang="zh-CN" altLang="zh-CN" b="1" kern="18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图像输入与预处理模块设计</a:t>
            </a:r>
            <a:endParaRPr lang="en-US" altLang="zh-CN" b="1" kern="1800" dirty="0">
              <a:effectLst/>
              <a:latin typeface="等线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zh-CN" altLang="zh-CN" b="1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模块目标</a:t>
            </a:r>
            <a:endParaRPr lang="en-US" altLang="zh-CN" b="1" kern="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zh-CN" altLang="zh-CN" b="1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图片质量检测</a:t>
            </a:r>
            <a:endParaRPr lang="en-US" altLang="zh-CN" sz="4000" b="1" kern="1800" dirty="0">
              <a:effectLst/>
              <a:latin typeface="等线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b="1" kern="1800" dirty="0"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4.3 </a:t>
            </a:r>
            <a:r>
              <a:rPr lang="zh-CN" altLang="zh-CN" b="1" kern="18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特征提取模块设计</a:t>
            </a:r>
            <a:endParaRPr lang="en-US" altLang="zh-CN" b="1" kern="1800" dirty="0">
              <a:effectLst/>
              <a:latin typeface="等线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zh-CN" altLang="zh-CN" b="1" kern="0" dirty="0">
                <a:ea typeface="宋体" panose="02010600030101010101" pitchFamily="2" charset="-122"/>
              </a:rPr>
              <a:t>常用算法</a:t>
            </a:r>
          </a:p>
          <a:p>
            <a:r>
              <a:rPr lang="en-US" altLang="zh-CN" b="1" kern="1800" dirty="0"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4.4 </a:t>
            </a:r>
            <a:r>
              <a:rPr lang="zh-CN" altLang="zh-CN" b="1" kern="18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特征匹配模块设计</a:t>
            </a:r>
            <a:endParaRPr lang="en-US" altLang="zh-CN" b="1" kern="1800" dirty="0">
              <a:effectLst/>
              <a:latin typeface="等线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zh-CN" sz="1800" b="1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模块作用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1800" b="1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匹配流程</a:t>
            </a:r>
            <a:endParaRPr lang="en-US" altLang="zh-CN" sz="1800" b="1" kern="1800" dirty="0">
              <a:latin typeface="等线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zh-CN" sz="1800" b="1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异常匹配过滤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646444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A709DA-2015-48E9-8F78-4C9806177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sz="3200" b="1" kern="18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第五章 三维重建系统的软件工程实现模式</a:t>
            </a:r>
            <a:b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E93BA6-7C8C-4C27-9B03-E65CC28BE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kern="0" dirty="0">
                <a:latin typeface="等线" panose="02010600030101010101" pitchFamily="2" charset="-122"/>
                <a:ea typeface="宋体" panose="02010600030101010101" pitchFamily="2" charset="-122"/>
              </a:rPr>
              <a:t>5.1 Pipeline</a:t>
            </a:r>
            <a:r>
              <a:rPr lang="zh-CN" altLang="zh-CN" b="1" kern="0" dirty="0">
                <a:latin typeface="等线" panose="02010600030101010101" pitchFamily="2" charset="-122"/>
                <a:ea typeface="宋体" panose="02010600030101010101" pitchFamily="2" charset="-122"/>
              </a:rPr>
              <a:t>任务管理设计</a:t>
            </a:r>
            <a:endParaRPr lang="en-US" altLang="zh-CN" b="1" kern="0" dirty="0">
              <a:latin typeface="等线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kern="0" dirty="0">
                <a:latin typeface="等线" panose="02010600030101010101" pitchFamily="2" charset="-122"/>
                <a:ea typeface="宋体" panose="02010600030101010101" pitchFamily="2" charset="-122"/>
              </a:rPr>
              <a:t>5.2 </a:t>
            </a:r>
            <a:r>
              <a:rPr lang="zh-CN" altLang="zh-CN" b="1" kern="0" dirty="0">
                <a:latin typeface="等线" panose="02010600030101010101" pitchFamily="2" charset="-122"/>
                <a:ea typeface="宋体" panose="02010600030101010101" pitchFamily="2" charset="-122"/>
              </a:rPr>
              <a:t>消息队列设计</a:t>
            </a:r>
            <a:endParaRPr lang="en-US" altLang="zh-CN" b="1" kern="0" dirty="0">
              <a:latin typeface="等线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 kern="0" dirty="0">
                <a:latin typeface="等线" panose="02010600030101010101" pitchFamily="2" charset="-122"/>
                <a:ea typeface="宋体" panose="02010600030101010101" pitchFamily="2" charset="-122"/>
              </a:rPr>
              <a:t>5.3 </a:t>
            </a:r>
            <a:r>
              <a:rPr lang="zh-CN" altLang="zh-CN" b="1" kern="0" dirty="0">
                <a:latin typeface="等线" panose="02010600030101010101" pitchFamily="2" charset="-122"/>
                <a:ea typeface="宋体" panose="02010600030101010101" pitchFamily="2" charset="-122"/>
              </a:rPr>
              <a:t>计算节点设计</a:t>
            </a:r>
          </a:p>
          <a:p>
            <a:r>
              <a:rPr lang="en-US" altLang="zh-CN" b="1" kern="0" dirty="0">
                <a:latin typeface="等线" panose="02010600030101010101" pitchFamily="2" charset="-122"/>
                <a:ea typeface="宋体" panose="02010600030101010101" pitchFamily="2" charset="-122"/>
              </a:rPr>
              <a:t>5.4 </a:t>
            </a:r>
            <a:r>
              <a:rPr lang="zh-CN" altLang="zh-CN" b="1" kern="0" dirty="0">
                <a:latin typeface="等线" panose="02010600030101010101" pitchFamily="2" charset="-122"/>
                <a:ea typeface="宋体" panose="02010600030101010101" pitchFamily="2" charset="-122"/>
              </a:rPr>
              <a:t>日志系统设计</a:t>
            </a:r>
          </a:p>
          <a:p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9445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924ECE-CC21-4BD0-839E-42E986970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6</a:t>
            </a:r>
            <a:r>
              <a:rPr lang="zh-CN" altLang="en-US" dirty="0"/>
              <a:t>张  性能评价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072F6B-0D0F-4CC6-9B7A-F4B535890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论证满足需求的各种指标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817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A709DA-2015-48E9-8F78-4C9806177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sz="3200" b="1" kern="18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</a:t>
            </a:r>
            <a:r>
              <a:rPr lang="zh-CN" altLang="en-US" sz="3200" b="1" kern="18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</a:t>
            </a:r>
            <a:r>
              <a:rPr lang="zh-CN" altLang="zh-CN" sz="3200" b="1" kern="18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章 系统详细实现方案设计</a:t>
            </a:r>
            <a:br>
              <a:rPr lang="zh-CN" altLang="zh-CN" sz="3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</a:br>
            <a:endParaRPr lang="zh-CN" altLang="en-US" sz="32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E93BA6-7C8C-4C27-9B03-E65CC28BE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sz="3200" b="1" kern="0" dirty="0"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5.1 </a:t>
            </a:r>
            <a:r>
              <a:rPr lang="zh-CN" altLang="zh-CN" sz="3200" b="1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后端软件架构设计</a:t>
            </a:r>
            <a:endParaRPr lang="zh-CN" altLang="zh-CN" sz="3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3200" b="1" kern="1800" dirty="0">
                <a:latin typeface="等线" panose="02010600030101010101" pitchFamily="2" charset="-122"/>
                <a:ea typeface="宋体" panose="02010600030101010101" pitchFamily="2" charset="-122"/>
              </a:rPr>
              <a:t>5.2 </a:t>
            </a:r>
            <a:r>
              <a:rPr lang="zh-CN" altLang="en-US" sz="3200" b="1" kern="1800" dirty="0">
                <a:latin typeface="等线" panose="02010600030101010101" pitchFamily="2" charset="-122"/>
                <a:ea typeface="宋体" panose="02010600030101010101" pitchFamily="2" charset="-122"/>
              </a:rPr>
              <a:t>微服务模块划分设计</a:t>
            </a:r>
            <a:endParaRPr lang="en-US" altLang="zh-CN" sz="3200" b="1" kern="1800" dirty="0">
              <a:latin typeface="等线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zh-CN" sz="1800" b="1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用户服务</a:t>
            </a:r>
            <a:endParaRPr lang="en-US" altLang="zh-CN" sz="1800" b="1" kern="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zh-CN" altLang="zh-CN" sz="1800" b="1" kern="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项目管理服务</a:t>
            </a:r>
            <a:endParaRPr lang="en-US" altLang="zh-CN" sz="2800" b="1" kern="1800" dirty="0">
              <a:latin typeface="等线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3200" b="1" kern="1800" dirty="0"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5.3 </a:t>
            </a:r>
            <a:r>
              <a:rPr lang="zh-CN" altLang="zh-CN" sz="3200" b="1" kern="18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图片存储系统设计</a:t>
            </a:r>
            <a:endParaRPr lang="zh-CN" altLang="zh-CN" sz="3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3200" b="1" kern="1800" dirty="0"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5.4 </a:t>
            </a:r>
            <a:r>
              <a:rPr lang="zh-CN" altLang="zh-CN" sz="3200" b="1" kern="18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数据库整体设计</a:t>
            </a:r>
            <a:endParaRPr lang="zh-CN" altLang="zh-CN" sz="3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3200" b="1" kern="1800" dirty="0"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5.5 </a:t>
            </a:r>
            <a:r>
              <a:rPr lang="zh-CN" altLang="zh-CN" sz="3200" b="1" kern="18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三维重建任务调度系统设计</a:t>
            </a:r>
            <a:endParaRPr lang="zh-CN" altLang="zh-CN" sz="3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3200" b="1" kern="1800" dirty="0"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5.6 </a:t>
            </a:r>
            <a:r>
              <a:rPr lang="zh-CN" altLang="zh-CN" sz="3200" b="1" kern="18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前端系统设计</a:t>
            </a:r>
            <a:endParaRPr lang="en-US" altLang="zh-CN" sz="3200" b="1" kern="1800" dirty="0">
              <a:effectLst/>
              <a:latin typeface="等线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3200" b="1" kern="1800" dirty="0">
                <a:effectLst/>
                <a:latin typeface="宋体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</a:rPr>
              <a:t>5.7 </a:t>
            </a:r>
            <a:r>
              <a:rPr lang="zh-CN" altLang="zh-CN" sz="3200" b="1" kern="18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三维模型</a:t>
            </a:r>
            <a:r>
              <a:rPr lang="en-US" altLang="zh-CN" sz="3200" b="1" kern="18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Web</a:t>
            </a:r>
            <a:r>
              <a:rPr lang="zh-CN" altLang="zh-CN" sz="3200" b="1" kern="18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展示设计</a:t>
            </a:r>
            <a:endParaRPr lang="zh-CN" altLang="zh-CN" sz="3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zh-CN" sz="32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950791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A709DA-2015-48E9-8F78-4C9806177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系统性能优化与工程优化策略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E93BA6-7C8C-4C27-9B03-E65CC28BE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4800" dirty="0"/>
              <a:t>三维重建系统性能瓶颈分析</a:t>
            </a:r>
          </a:p>
          <a:p>
            <a:pPr lvl="1"/>
            <a:r>
              <a:rPr lang="zh-CN" altLang="zh-CN" sz="2800" b="1" kern="18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并行计算设计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zh-CN" sz="2800" b="1" kern="18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特征匹配优化设计</a:t>
            </a:r>
            <a:endParaRPr lang="zh-CN" altLang="zh-CN" sz="2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zh-CN" sz="2800" b="1" kern="1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内存管理优化</a:t>
            </a:r>
            <a:endParaRPr lang="en-US" altLang="zh-CN" sz="2800" b="1" kern="18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zh-CN" altLang="zh-CN" sz="2800" b="1" kern="1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分布式计算设计</a:t>
            </a:r>
            <a:endParaRPr lang="en-US" altLang="zh-CN" sz="2800" b="1" kern="18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zh-CN" altLang="zh-CN" sz="2800" b="1" kern="1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云端部署方案设计</a:t>
            </a:r>
            <a:endParaRPr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3939345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06979C-EE9E-4A60-804F-01ACBF34F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sz="4000" b="1" kern="18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</a:t>
            </a:r>
            <a:r>
              <a:rPr lang="zh-CN" altLang="en-US" sz="4000" b="1" kern="18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七</a:t>
            </a:r>
            <a:r>
              <a:rPr lang="zh-CN" altLang="zh-CN" sz="4000" b="1" kern="18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章 系统安全设计</a:t>
            </a:r>
            <a:b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zh-CN" altLang="zh-CN" sz="4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8F933E-329A-4521-8986-BDFA2E7B2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zh-CN" altLang="zh-CN" sz="1800" b="1" kern="18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用户数据安全</a:t>
            </a:r>
            <a:endParaRPr lang="en-US" altLang="zh-CN" sz="1800" b="1" kern="1800" dirty="0">
              <a:effectLst/>
              <a:latin typeface="等线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zh-CN" sz="1800" b="1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数据隔离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1800" b="1" kern="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访问控制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b="1" kern="1800" dirty="0">
                <a:effectLst/>
                <a:latin typeface="宋体" panose="02010600030101010101" pitchFamily="2" charset="-122"/>
                <a:cs typeface="宋体" panose="02010600030101010101" pitchFamily="2" charset="-122"/>
              </a:rPr>
              <a:t>API</a:t>
            </a:r>
            <a:r>
              <a:rPr lang="zh-CN" altLang="zh-CN" sz="1800" b="1" kern="180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安全设计</a:t>
            </a:r>
            <a:endParaRPr lang="zh-CN" altLang="zh-CN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280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A709DA-2015-48E9-8F78-4C9806177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sz="3200" b="1" kern="1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系统测试方案设计</a:t>
            </a:r>
            <a:endParaRPr lang="zh-CN" altLang="en-US" sz="32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E93BA6-7C8C-4C27-9B03-E65CC28BE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b="1" kern="1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单元测试设计</a:t>
            </a:r>
            <a:endParaRPr lang="en-US" altLang="zh-CN" b="1" kern="18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zh-CN" b="1" kern="18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集成测试设计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b="1" kern="1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性能测试设计</a:t>
            </a:r>
            <a:endParaRPr lang="en-US" altLang="zh-CN" b="1" kern="18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zh-CN" b="1" kern="18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三维模型质量测试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0625563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A709DA-2015-48E9-8F78-4C9806177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sz="3200" b="1" kern="1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系统应用场景分析</a:t>
            </a:r>
            <a:endParaRPr lang="zh-CN" altLang="en-US" sz="32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E93BA6-7C8C-4C27-9B03-E65CC28BE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b="1" kern="18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工业制造领域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b="1" kern="1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文物数字化保护</a:t>
            </a:r>
            <a:endParaRPr lang="en-US" altLang="zh-CN" b="1" kern="18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zh-CN" b="1" kern="1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建筑测绘领域</a:t>
            </a:r>
            <a:endParaRPr lang="en-US" altLang="zh-CN" b="1" kern="1800" dirty="0">
              <a:effectLst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zh-CN" b="1" kern="1800" dirty="0">
                <a:effectLst/>
                <a:ea typeface="宋体" panose="02010600030101010101" pitchFamily="2" charset="-122"/>
                <a:cs typeface="宋体" panose="02010600030101010101" pitchFamily="2" charset="-122"/>
              </a:rPr>
              <a:t>虚拟现实和数字孪生</a:t>
            </a:r>
            <a:endParaRPr lang="en-US" altLang="zh-CN" b="1" kern="1800" dirty="0"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zh-CN" b="1" kern="18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自动驾驶和机器人领域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701226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506</Words>
  <Application>Microsoft Office PowerPoint</Application>
  <PresentationFormat>宽屏</PresentationFormat>
  <Paragraphs>136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5" baseType="lpstr">
      <vt:lpstr>等线</vt:lpstr>
      <vt:lpstr>等线 Light</vt:lpstr>
      <vt:lpstr>宋体</vt:lpstr>
      <vt:lpstr>Arial</vt:lpstr>
      <vt:lpstr>Symbol</vt:lpstr>
      <vt:lpstr>Office 主题​​</vt:lpstr>
      <vt:lpstr>三维图像重建</vt:lpstr>
      <vt:lpstr>PowerPoint 演示文稿</vt:lpstr>
      <vt:lpstr>软件工程视角下的问题</vt:lpstr>
      <vt:lpstr>软件工程视角下的问题</vt:lpstr>
      <vt:lpstr>软件工程视角下的问题</vt:lpstr>
      <vt:lpstr>软件工程视角下的问题</vt:lpstr>
      <vt:lpstr>需求分析</vt:lpstr>
      <vt:lpstr>需求分析</vt:lpstr>
      <vt:lpstr>需求分析</vt:lpstr>
      <vt:lpstr>系统总体架构设计 </vt:lpstr>
      <vt:lpstr>多图片三维重建核心算法的软件工程设计 </vt:lpstr>
      <vt:lpstr>多图片三维重建核心算法的软件工程设计 </vt:lpstr>
      <vt:lpstr>第五章 三维重建系统的软件工程实现模式 </vt:lpstr>
      <vt:lpstr>第6张  性能评价</vt:lpstr>
      <vt:lpstr>第五章 系统详细实现方案设计 </vt:lpstr>
      <vt:lpstr>系统性能优化与工程优化策略</vt:lpstr>
      <vt:lpstr>第七章 系统安全设计  </vt:lpstr>
      <vt:lpstr>系统测试方案设计</vt:lpstr>
      <vt:lpstr>系统应用场景分析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Thinkpad</dc:creator>
  <cp:lastModifiedBy>Thinkpad</cp:lastModifiedBy>
  <cp:revision>15</cp:revision>
  <dcterms:created xsi:type="dcterms:W3CDTF">2026-08-24T02:30:06Z</dcterms:created>
  <dcterms:modified xsi:type="dcterms:W3CDTF">2026-09-03T07:27:41Z</dcterms:modified>
</cp:coreProperties>
</file>